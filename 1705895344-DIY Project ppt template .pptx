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8A1AFDA-333A-48B3-84F9-00780724EABB}">
          <p14:sldIdLst>
            <p14:sldId id="338"/>
            <p14:sldId id="327"/>
            <p14:sldId id="315"/>
            <p14:sldId id="329"/>
            <p14:sldId id="302"/>
            <p14:sldId id="339"/>
            <p14:sldId id="304"/>
          </p14:sldIdLst>
        </p14:section>
      </p14:sectionLst>
    </p:ex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125"/>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12/29/2025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12/29/2025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12/29/2025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12/29/2025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12/29/2025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12/29/2025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7"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89393"/>
            <a:ext cx="3400089" cy="861497"/>
          </a:xfrm>
        </p:spPr>
        <p:txBody>
          <a:bodyPr/>
          <a:lstStyle/>
          <a:p>
            <a:pPr algn="just"/>
            <a:r>
              <a:rPr lang="en-US" b="0" dirty="0">
                <a:solidFill>
                  <a:schemeClr val="tx1"/>
                </a:solidFill>
              </a:rPr>
              <a:t>Student Name:-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791201" y="930054"/>
            <a:ext cx="4998720" cy="2091446"/>
          </a:xfrm>
        </p:spPr>
        <p:txBody>
          <a:bodyPr>
            <a:normAutofit fontScale="90000"/>
          </a:bodyPr>
          <a:lstStyle/>
          <a:p>
            <a:r>
              <a:rPr lang="en-GB" sz="3100" b="1" dirty="0"/>
              <a:t>Project Title:</a:t>
            </a:r>
            <a:br>
              <a:rPr lang="en-IN" sz="3200" dirty="0"/>
            </a:br>
            <a:r>
              <a:rPr lang="en-IN" sz="2700" dirty="0"/>
              <a:t>Educational Keystroke Logger using Python &amp; </a:t>
            </a:r>
            <a:r>
              <a:rPr lang="en-IN" sz="2700" dirty="0" err="1"/>
              <a:t>Tkinter</a:t>
            </a:r>
            <a:br>
              <a:rPr lang="en-IN" sz="3100" dirty="0"/>
            </a:br>
            <a:r>
              <a:rPr lang="en-IN" sz="2700" b="1" dirty="0"/>
              <a:t>Domain:</a:t>
            </a:r>
            <a:r>
              <a:rPr lang="en-IN" sz="2700" dirty="0"/>
              <a:t> Cybersecurity</a:t>
            </a:r>
            <a:br>
              <a:rPr lang="en-IN" sz="3200" dirty="0"/>
            </a:br>
            <a:r>
              <a:rPr lang="en-IN" sz="2700" b="1" dirty="0"/>
              <a:t>Project Type:</a:t>
            </a:r>
            <a:r>
              <a:rPr lang="en-IN" sz="2700" dirty="0"/>
              <a:t> Internship Project</a:t>
            </a:r>
            <a:br>
              <a:rPr lang="en-IN" sz="3200" dirty="0"/>
            </a:br>
            <a:br>
              <a:rPr lang="en-GB" sz="3200"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C0CB2D8C-1CF7-5B68-41C1-EFB76EB4DBB1}"/>
              </a:ext>
            </a:extLst>
          </p:cNvPr>
          <p:cNvSpPr txBox="1"/>
          <p:nvPr/>
        </p:nvSpPr>
        <p:spPr>
          <a:xfrm>
            <a:off x="8122610" y="4203415"/>
            <a:ext cx="1670180" cy="369332"/>
          </a:xfrm>
          <a:prstGeom prst="rect">
            <a:avLst/>
          </a:prstGeom>
          <a:noFill/>
        </p:spPr>
        <p:txBody>
          <a:bodyPr wrap="square">
            <a:spAutoFit/>
          </a:bodyPr>
          <a:lstStyle/>
          <a:p>
            <a:r>
              <a:rPr lang="en-IN" sz="1800" dirty="0"/>
              <a:t>Vedh Kamble</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894217"/>
            <a:ext cx="6431280" cy="3607987"/>
          </a:xfrm>
        </p:spPr>
        <p:txBody>
          <a:bodyPr>
            <a:normAutofit fontScale="70000" lnSpcReduction="20000"/>
          </a:bodyPr>
          <a:lstStyle/>
          <a:p>
            <a:r>
              <a:rPr lang="en-US" sz="2800" dirty="0"/>
              <a:t>Keylogging is one of the most commonly used techniques in cyber attacks for stealing sensitive information such as passwords, personal messages, and login credentials.</a:t>
            </a:r>
          </a:p>
          <a:p>
            <a:r>
              <a:rPr lang="en-US" sz="2800" dirty="0"/>
              <a:t>Many users are unaware of how keyloggers operate or how easily keyboard inputs can be captured if proper security controls are not implemented. There is a need to understand the working, risks, and prevention of keylogging attacks safely and ethically.</a:t>
            </a:r>
          </a:p>
          <a:p>
            <a:r>
              <a:rPr lang="en-US" sz="2800" dirty="0"/>
              <a:t>This project aims to demonstrate the concept of keystroke logging </a:t>
            </a:r>
            <a:r>
              <a:rPr lang="en-US" sz="2800" b="1" dirty="0"/>
              <a:t>for educational purposes</a:t>
            </a:r>
            <a:r>
              <a:rPr lang="en-US" sz="2800" dirty="0"/>
              <a:t>, focusing on awareness rather than misuse.</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9192728" cy="4475914"/>
          </a:xfrm>
        </p:spPr>
        <p:txBody>
          <a:bodyPr>
            <a:normAutofit fontScale="90000"/>
          </a:bodyPr>
          <a:lstStyle/>
          <a:p>
            <a:r>
              <a:rPr lang="en-GB" sz="3600" dirty="0"/>
              <a:t>Project Description</a:t>
            </a:r>
            <a:br>
              <a:rPr lang="en-GB" sz="3600" dirty="0"/>
            </a:br>
            <a:r>
              <a:rPr lang="en-GB" sz="3600" dirty="0"/>
              <a:t>[write detail description about your project ] </a:t>
            </a:r>
            <a:br>
              <a:rPr lang="en-GB" sz="3600" dirty="0"/>
            </a:br>
            <a:br>
              <a:rPr lang="en-GB" dirty="0"/>
            </a:br>
            <a:r>
              <a:rPr lang="en-US" sz="2200" b="0" dirty="0"/>
              <a:t>The Educational Keystroke Logger is a Python-based cybersecurity project that demonstrates how keystrokes can be captured within an application environment using the </a:t>
            </a:r>
            <a:r>
              <a:rPr lang="en-US" sz="2200" b="0" dirty="0" err="1"/>
              <a:t>Tkinter</a:t>
            </a:r>
            <a:r>
              <a:rPr lang="en-US" sz="2200" b="0" dirty="0"/>
              <a:t> GUI framework.</a:t>
            </a:r>
            <a:br>
              <a:rPr lang="en-US" sz="2200" b="0" dirty="0"/>
            </a:br>
            <a:br>
              <a:rPr lang="en-US" sz="2200" b="0" dirty="0"/>
            </a:br>
            <a:r>
              <a:rPr lang="en-US" sz="2200" b="0" dirty="0"/>
              <a:t>The application logs keyboard inputs typed only inside the program window, ensuring user consent and ethical usage. The logged keystrokes are stored securely in timestamped text files for analysis.</a:t>
            </a:r>
            <a:br>
              <a:rPr lang="en-US" sz="2200" b="0" dirty="0"/>
            </a:br>
            <a:br>
              <a:rPr lang="en-US" sz="2200" b="0" dirty="0"/>
            </a:br>
            <a:r>
              <a:rPr lang="en-US" sz="2200" b="0" dirty="0"/>
              <a:t>The project highlights:</a:t>
            </a:r>
            <a:br>
              <a:rPr lang="en-US" sz="2200" b="0" dirty="0"/>
            </a:br>
            <a:r>
              <a:rPr lang="en-US" sz="2200" b="0" dirty="0"/>
              <a:t>1)How keylogging works?</a:t>
            </a:r>
            <a:br>
              <a:rPr lang="en-US" sz="2200" b="0" dirty="0"/>
            </a:br>
            <a:r>
              <a:rPr lang="en-US" sz="2200" b="0" dirty="0"/>
              <a:t>2)Why are malicious keyloggers dangerous?</a:t>
            </a:r>
            <a:br>
              <a:rPr lang="en-US" sz="2200" b="0" dirty="0"/>
            </a:br>
            <a:r>
              <a:rPr lang="en-US" sz="2200" b="0" dirty="0"/>
              <a:t>3)How defenders can detect and prevent such threats?</a:t>
            </a:r>
            <a:br>
              <a:rPr lang="en-US" sz="2200" b="0" dirty="0"/>
            </a:br>
            <a:r>
              <a:rPr lang="en-US" sz="2200" b="0" dirty="0"/>
              <a:t>4)This tool does not perform system-wide or background monitoring.</a:t>
            </a:r>
            <a:br>
              <a:rPr lang="en-US"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lnSpcReduction="10000"/>
          </a:bodyPr>
          <a:lstStyle/>
          <a:p>
            <a:r>
              <a:rPr lang="en-US" sz="3500" dirty="0"/>
              <a:t>Cybersecurity students</a:t>
            </a:r>
          </a:p>
          <a:p>
            <a:r>
              <a:rPr lang="en-US" sz="3500" dirty="0"/>
              <a:t>Beginners learning ethical hacking concepts</a:t>
            </a:r>
          </a:p>
          <a:p>
            <a:r>
              <a:rPr lang="en-US" sz="3500" dirty="0"/>
              <a:t>Network and system security learners</a:t>
            </a:r>
          </a:p>
          <a:p>
            <a:r>
              <a:rPr lang="en-US" sz="3500" dirty="0"/>
              <a:t>Educational institutions</a:t>
            </a:r>
          </a:p>
          <a:p>
            <a:r>
              <a:rPr lang="en-US" sz="3500" dirty="0"/>
              <a:t>Internship training programs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463105"/>
            <a:ext cx="9027702" cy="5243448"/>
          </a:xfrm>
        </p:spPr>
        <p:txBody>
          <a:bodyPr>
            <a:normAutofit lnSpcReduction="10000"/>
          </a:bodyPr>
          <a:lstStyle/>
          <a:p>
            <a:r>
              <a:rPr lang="en-IN" b="1" dirty="0"/>
              <a:t>Programming Language:</a:t>
            </a:r>
            <a:r>
              <a:rPr lang="en-IN" dirty="0"/>
              <a:t> Python 3</a:t>
            </a:r>
          </a:p>
          <a:p>
            <a:r>
              <a:rPr lang="en-IN" b="1" dirty="0"/>
              <a:t>GUI Framework:</a:t>
            </a:r>
            <a:r>
              <a:rPr lang="en-IN" dirty="0"/>
              <a:t> </a:t>
            </a:r>
            <a:r>
              <a:rPr lang="en-IN" dirty="0" err="1"/>
              <a:t>Tkinter</a:t>
            </a:r>
            <a:endParaRPr lang="en-IN" dirty="0"/>
          </a:p>
          <a:p>
            <a:r>
              <a:rPr lang="en-IN" b="1" dirty="0"/>
              <a:t>File Handling:</a:t>
            </a:r>
            <a:r>
              <a:rPr lang="en-IN" dirty="0"/>
              <a:t> Text files (.txt)</a:t>
            </a:r>
          </a:p>
          <a:p>
            <a:r>
              <a:rPr lang="en-IN" b="1" dirty="0"/>
              <a:t>Libraries Used:</a:t>
            </a:r>
            <a:endParaRPr lang="en-IN" dirty="0"/>
          </a:p>
          <a:p>
            <a:pPr lvl="1"/>
            <a:r>
              <a:rPr lang="en-IN" dirty="0" err="1"/>
              <a:t>tkinter</a:t>
            </a:r>
            <a:endParaRPr lang="en-IN" dirty="0"/>
          </a:p>
          <a:p>
            <a:pPr lvl="1"/>
            <a:r>
              <a:rPr lang="en-IN" dirty="0"/>
              <a:t>datetime</a:t>
            </a:r>
          </a:p>
          <a:p>
            <a:pPr lvl="1"/>
            <a:r>
              <a:rPr lang="en-IN" dirty="0" err="1"/>
              <a:t>os</a:t>
            </a:r>
            <a:endParaRPr lang="en-IN" dirty="0"/>
          </a:p>
          <a:p>
            <a:r>
              <a:rPr lang="en-IN" b="1" dirty="0"/>
              <a:t>Development Environment:</a:t>
            </a:r>
            <a:r>
              <a:rPr lang="en-IN" dirty="0"/>
              <a:t> VS Code</a:t>
            </a:r>
          </a:p>
          <a:p>
            <a:r>
              <a:rPr lang="en-IN" b="1" dirty="0"/>
              <a:t>Operating System:</a:t>
            </a:r>
            <a:r>
              <a:rPr lang="en-IN" dirty="0"/>
              <a:t> Windows </a:t>
            </a:r>
          </a:p>
          <a:p>
            <a:r>
              <a:rPr lang="en-IN" dirty="0"/>
              <a:t>No third-party or external libraries were used.</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Effect transition="in" filter="fade">
                                      <p:cBhvr>
                                        <p:cTn id="40" dur="1000"/>
                                        <p:tgtEl>
                                          <p:spTgt spid="7">
                                            <p:txEl>
                                              <p:pRg st="4" end="4"/>
                                            </p:txEl>
                                          </p:spTgt>
                                        </p:tgtEl>
                                      </p:cBhvr>
                                    </p:animEffect>
                                    <p:anim calcmode="lin" valueType="num">
                                      <p:cBhvr>
                                        <p:cTn id="41"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xEl>
                                              <p:pRg st="5" end="5"/>
                                            </p:txEl>
                                          </p:spTgt>
                                        </p:tgtEl>
                                        <p:attrNameLst>
                                          <p:attrName>style.visibility</p:attrName>
                                        </p:attrNameLst>
                                      </p:cBhvr>
                                      <p:to>
                                        <p:strVal val="visible"/>
                                      </p:to>
                                    </p:set>
                                    <p:animEffect transition="in" filter="fade">
                                      <p:cBhvr>
                                        <p:cTn id="45" dur="1000"/>
                                        <p:tgtEl>
                                          <p:spTgt spid="7">
                                            <p:txEl>
                                              <p:pRg st="5" end="5"/>
                                            </p:txEl>
                                          </p:spTgt>
                                        </p:tgtEl>
                                      </p:cBhvr>
                                    </p:animEffect>
                                    <p:anim calcmode="lin" valueType="num">
                                      <p:cBhvr>
                                        <p:cTn id="4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7">
                                            <p:txEl>
                                              <p:pRg st="6" end="6"/>
                                            </p:txEl>
                                          </p:spTgt>
                                        </p:tgtEl>
                                        <p:attrNameLst>
                                          <p:attrName>style.visibility</p:attrName>
                                        </p:attrNameLst>
                                      </p:cBhvr>
                                      <p:to>
                                        <p:strVal val="visible"/>
                                      </p:to>
                                    </p:set>
                                    <p:animEffect transition="in" filter="fade">
                                      <p:cBhvr>
                                        <p:cTn id="50" dur="1000"/>
                                        <p:tgtEl>
                                          <p:spTgt spid="7">
                                            <p:txEl>
                                              <p:pRg st="6" end="6"/>
                                            </p:txEl>
                                          </p:spTgt>
                                        </p:tgtEl>
                                      </p:cBhvr>
                                    </p:animEffect>
                                    <p:anim calcmode="lin" valueType="num">
                                      <p:cBhvr>
                                        <p:cTn id="51"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7">
                                            <p:txEl>
                                              <p:pRg st="7" end="7"/>
                                            </p:txEl>
                                          </p:spTgt>
                                        </p:tgtEl>
                                        <p:attrNameLst>
                                          <p:attrName>style.visibility</p:attrName>
                                        </p:attrNameLst>
                                      </p:cBhvr>
                                      <p:to>
                                        <p:strVal val="visible"/>
                                      </p:to>
                                    </p:set>
                                    <p:animEffect transition="in" filter="fade">
                                      <p:cBhvr>
                                        <p:cTn id="57" dur="1000"/>
                                        <p:tgtEl>
                                          <p:spTgt spid="7">
                                            <p:txEl>
                                              <p:pRg st="7" end="7"/>
                                            </p:txEl>
                                          </p:spTgt>
                                        </p:tgtEl>
                                      </p:cBhvr>
                                    </p:animEffect>
                                    <p:anim calcmode="lin" valueType="num">
                                      <p:cBhvr>
                                        <p:cTn id="5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9"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7">
                                            <p:txEl>
                                              <p:pRg st="8" end="8"/>
                                            </p:txEl>
                                          </p:spTgt>
                                        </p:tgtEl>
                                        <p:attrNameLst>
                                          <p:attrName>style.visibility</p:attrName>
                                        </p:attrNameLst>
                                      </p:cBhvr>
                                      <p:to>
                                        <p:strVal val="visible"/>
                                      </p:to>
                                    </p:set>
                                    <p:animEffect transition="in" filter="fade">
                                      <p:cBhvr>
                                        <p:cTn id="64" dur="1000"/>
                                        <p:tgtEl>
                                          <p:spTgt spid="7">
                                            <p:txEl>
                                              <p:pRg st="8" end="8"/>
                                            </p:txEl>
                                          </p:spTgt>
                                        </p:tgtEl>
                                      </p:cBhvr>
                                    </p:animEffect>
                                    <p:anim calcmode="lin" valueType="num">
                                      <p:cBhvr>
                                        <p:cTn id="6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7">
                                            <p:txEl>
                                              <p:pRg st="9" end="9"/>
                                            </p:txEl>
                                          </p:spTgt>
                                        </p:tgtEl>
                                        <p:attrNameLst>
                                          <p:attrName>style.visibility</p:attrName>
                                        </p:attrNameLst>
                                      </p:cBhvr>
                                      <p:to>
                                        <p:strVal val="visible"/>
                                      </p:to>
                                    </p:set>
                                    <p:animEffect transition="in" filter="fade">
                                      <p:cBhvr>
                                        <p:cTn id="71" dur="1000"/>
                                        <p:tgtEl>
                                          <p:spTgt spid="7">
                                            <p:txEl>
                                              <p:pRg st="9" end="9"/>
                                            </p:txEl>
                                          </p:spTgt>
                                        </p:tgtEl>
                                      </p:cBhvr>
                                    </p:animEffect>
                                    <p:anim calcmode="lin" valueType="num">
                                      <p:cBhvr>
                                        <p:cTn id="72"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3"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106789" y="-145597"/>
            <a:ext cx="2860345" cy="702431"/>
          </a:xfrm>
        </p:spPr>
        <p:txBody>
          <a:bodyPr>
            <a:normAutofit fontScale="90000"/>
          </a:bodyPr>
          <a:lstStyle/>
          <a:p>
            <a:r>
              <a:rPr lang="en-GB" sz="36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89B3D075-AD97-EFC2-6BF9-D4EAD09C97C9}"/>
              </a:ext>
            </a:extLst>
          </p:cNvPr>
          <p:cNvPicPr>
            <a:picLocks noChangeAspect="1"/>
          </p:cNvPicPr>
          <p:nvPr/>
        </p:nvPicPr>
        <p:blipFill>
          <a:blip r:embed="rId4"/>
          <a:stretch>
            <a:fillRect/>
          </a:stretch>
        </p:blipFill>
        <p:spPr>
          <a:xfrm>
            <a:off x="4936213" y="386080"/>
            <a:ext cx="5229538" cy="2930777"/>
          </a:xfrm>
          <a:prstGeom prst="rect">
            <a:avLst/>
          </a:prstGeom>
        </p:spPr>
      </p:pic>
      <p:pic>
        <p:nvPicPr>
          <p:cNvPr id="11" name="Picture 10">
            <a:extLst>
              <a:ext uri="{FF2B5EF4-FFF2-40B4-BE49-F238E27FC236}">
                <a16:creationId xmlns:a16="http://schemas.microsoft.com/office/drawing/2014/main" id="{4A8B57A3-5D87-1F27-A740-1AE3792ADFD4}"/>
              </a:ext>
            </a:extLst>
          </p:cNvPr>
          <p:cNvPicPr>
            <a:picLocks noChangeAspect="1"/>
          </p:cNvPicPr>
          <p:nvPr/>
        </p:nvPicPr>
        <p:blipFill>
          <a:blip r:embed="rId5"/>
          <a:stretch>
            <a:fillRect/>
          </a:stretch>
        </p:blipFill>
        <p:spPr>
          <a:xfrm>
            <a:off x="106789" y="498223"/>
            <a:ext cx="4513255" cy="2930777"/>
          </a:xfrm>
          <a:prstGeom prst="rect">
            <a:avLst/>
          </a:prstGeom>
        </p:spPr>
      </p:pic>
      <p:pic>
        <p:nvPicPr>
          <p:cNvPr id="15" name="Picture 14" descr="A computer screen shot of text">
            <a:extLst>
              <a:ext uri="{FF2B5EF4-FFF2-40B4-BE49-F238E27FC236}">
                <a16:creationId xmlns:a16="http://schemas.microsoft.com/office/drawing/2014/main" id="{DAC6A821-EF34-F482-4788-A7290AECCC38}"/>
              </a:ext>
            </a:extLst>
          </p:cNvPr>
          <p:cNvPicPr>
            <a:picLocks noChangeAspect="1"/>
          </p:cNvPicPr>
          <p:nvPr/>
        </p:nvPicPr>
        <p:blipFill>
          <a:blip r:embed="rId6"/>
          <a:stretch>
            <a:fillRect/>
          </a:stretch>
        </p:blipFill>
        <p:spPr>
          <a:xfrm>
            <a:off x="230470" y="3462736"/>
            <a:ext cx="4265891" cy="2708122"/>
          </a:xfrm>
          <a:prstGeom prst="rect">
            <a:avLst/>
          </a:prstGeom>
        </p:spPr>
      </p:pic>
      <p:pic>
        <p:nvPicPr>
          <p:cNvPr id="17" name="Picture 16">
            <a:extLst>
              <a:ext uri="{FF2B5EF4-FFF2-40B4-BE49-F238E27FC236}">
                <a16:creationId xmlns:a16="http://schemas.microsoft.com/office/drawing/2014/main" id="{6D05AADE-8B2D-03D8-4CC5-BCB6E0665545}"/>
              </a:ext>
            </a:extLst>
          </p:cNvPr>
          <p:cNvPicPr>
            <a:picLocks noChangeAspect="1"/>
          </p:cNvPicPr>
          <p:nvPr/>
        </p:nvPicPr>
        <p:blipFill>
          <a:blip r:embed="rId7"/>
          <a:stretch>
            <a:fillRect/>
          </a:stretch>
        </p:blipFill>
        <p:spPr>
          <a:xfrm>
            <a:off x="4936213" y="3306419"/>
            <a:ext cx="4553020" cy="302075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677</TotalTime>
  <Words>317</Words>
  <Application>Microsoft Office PowerPoint</Application>
  <PresentationFormat>Widescreen</PresentationFormat>
  <Paragraphs>31</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Trebuchet MS</vt:lpstr>
      <vt:lpstr>Wingdings</vt:lpstr>
      <vt:lpstr>Wingdings 3</vt:lpstr>
      <vt:lpstr>Facet</vt:lpstr>
      <vt:lpstr>Project Title: Educational Keystroke Logger using Python &amp; Tkinter Domain: Cybersecurity Project Type: Internship Project  </vt:lpstr>
      <vt:lpstr>PROBLEM  STATEMENT</vt:lpstr>
      <vt:lpstr>Project Description [write detail description about your project ]   The Educational Keystroke Logger is a Python-based cybersecurity project that demonstrates how keystrokes can be captured within an application environment using the Tkinter GUI framework.  The application logs keyboard inputs typed only inside the program window, ensuring user consent and ethical usage. The logged keystrokes are stored securely in timestamped text files for analysis.  The project highlights: 1)How keylogging works? 2)Why are malicious keyloggers dangerous? 3)How defenders can detect and prevent such threats? 4)This tool does not perform system-wide or background monitoring. </vt:lpstr>
      <vt:lpstr>WHO ARE THE END USERS?</vt:lpstr>
      <vt:lpstr>Technology Used</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Vedh Kamble</cp:lastModifiedBy>
  <cp:revision>76</cp:revision>
  <dcterms:created xsi:type="dcterms:W3CDTF">2021-07-11T13:13:15Z</dcterms:created>
  <dcterms:modified xsi:type="dcterms:W3CDTF">2025-12-29T16:32:05Z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